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WORKSHOP MIỄN PHÍ · 90 PHÚT — Xây trợ lý AI đầu tiên cho doanh nghiệp với Claude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ĐẦU RA ĐỘC LẬP — Bạn mang về gì sau 90 phút?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05—15 PHÚT — AI rời rạc thường gãy ở 3 điểm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TỪ CHAT ĐẾN HỆ THỐNG — Một luồng có kiểm soát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HÌNH 6 THÀNH PHẦN — Đừng bắt đầu bằng prompt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CHỌN VIỆC ĐẦU TIÊN — Nhỏ, rõ, kiểm tra được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· DỮ LIỆU GIẢ LẬP — Tiệm bánh Mộc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· BƯỚC 1 — Tạo không gian bối cảnh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· BƯỚC 2 — Giao một nhiệm vụ có thể chấm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· BƯỚC 3 — Sửa theo tiêu chí, không sửa theo cảm giác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47—67 PHÚT — Bài thực hành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WORKSHEET — Điền 6 ô trước khi mở Claude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KHUNG — Một cấu trúc có thể tái sử dụng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CHẠY THỬ — Đánh dấu nơi cần con người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67—77 PHÚT — Checklist đánh giá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RANH GIỚI — Khi nào phải dừng AI?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MUỐN ĐI TIẾP — AI VẬN HÀNH DOANH NGHIỆP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COHORT SÁNG LẬP — Một lời mời minh bạch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BƯỚC TIẾP THEO — Hoàn thiện một vòng nhỏ</a:t>
            </a:r>
          </a:p>
          <a:p>
            <a:r>
              <a:t>Dẫn theo workshop-outline.md. Giữ ví dụ ở trạng thái giả lập; mời người học đối chiếu nguồn và không chia sẻ dữ liệu nhạy cảm.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WORKSHOP MIỄN PHÍ · 90 PHÚT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4EEDF"/>
                </a:solidFill>
                <a:latin typeface="Liberation Sans"/>
              </a:rPr>
              <a:t>Xây trợ lý AI đầu tiên
cho doanh nghiệp với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063240"/>
            <a:ext cx="8961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A69D8D"/>
                </a:solidFill>
                <a:latin typeface="Liberation Sans"/>
              </a:rPr>
              <a:t>Một công việc thật · Một bản nháp · Một checklist · Một người duyệt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2743200"/>
            <a:ext cx="15087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4200" b="1">
                <a:solidFill>
                  <a:srgbClr val="C59B63"/>
                </a:solidFill>
                <a:latin typeface="Liberation Sans"/>
              </a:rPr>
              <a:t>90’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3703320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4EEDF"/>
                </a:solidFill>
                <a:latin typeface="Liberation Sans"/>
              </a:rPr>
              <a:t>HỌC + LÀM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ĐẦU RA ĐỘC LẬP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Bạn mang về gì sau 90 phút?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Bản đặc tả trợ lý AI nhỏ theo 6 ô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Một prompt có cấu trúc để chạy thử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Checklist Đạt / Cần sửa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901184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791456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Ranh giới dữ liệu và bước duyệt rõ ràng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05—15 PHÚT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AI rời rạc thường gãy ở 3 điểm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01  Thiếu bối cảnh — AI không biết điều gì là nguồn chính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02  Thiếu tiêu chuẩn — “hay hơn” không phải một tiêu chí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03  Thiếu điểm dừng — bản nháp bị dùng như quyết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TỪ CHAT ĐẾN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Một luồng có kiểm soát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43200"/>
            <a:ext cx="1481328" cy="914400"/>
          </a:xfrm>
          <a:prstGeom prst="roundRect">
            <a:avLst/>
          </a:prstGeom>
          <a:solidFill>
            <a:srgbClr val="FBF8F0"/>
          </a:solidFill>
          <a:ln>
            <a:solidFill>
              <a:srgbClr val="C59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3026664"/>
            <a:ext cx="13350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81713"/>
                </a:solidFill>
                <a:latin typeface="Liberation Sans"/>
              </a:rPr>
              <a:t>Mục tiêu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3017520"/>
            <a:ext cx="3017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C59B63"/>
                </a:solidFill>
                <a:latin typeface="Liberation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2743200"/>
            <a:ext cx="1481328" cy="914400"/>
          </a:xfrm>
          <a:prstGeom prst="roundRect">
            <a:avLst/>
          </a:prstGeom>
          <a:solidFill>
            <a:srgbClr val="FBF8F0"/>
          </a:solidFill>
          <a:ln>
            <a:solidFill>
              <a:srgbClr val="C59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3026664"/>
            <a:ext cx="13350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81713"/>
                </a:solidFill>
                <a:latin typeface="Liberation Sans"/>
              </a:rPr>
              <a:t>Nguồn sạch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017520"/>
            <a:ext cx="3017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C59B63"/>
                </a:solidFill>
                <a:latin typeface="Liberation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743200"/>
            <a:ext cx="1481328" cy="914400"/>
          </a:xfrm>
          <a:prstGeom prst="roundRect">
            <a:avLst/>
          </a:prstGeom>
          <a:solidFill>
            <a:srgbClr val="FBF8F0"/>
          </a:solidFill>
          <a:ln>
            <a:solidFill>
              <a:srgbClr val="C59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3026664"/>
            <a:ext cx="13350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81713"/>
                </a:solidFill>
                <a:latin typeface="Liberation Sans"/>
              </a:rPr>
              <a:t>Hướng dẫn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3017520"/>
            <a:ext cx="3017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C59B63"/>
                </a:solidFill>
                <a:latin typeface="Liberation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743200"/>
            <a:ext cx="1481328" cy="914400"/>
          </a:xfrm>
          <a:prstGeom prst="roundRect">
            <a:avLst/>
          </a:prstGeom>
          <a:solidFill>
            <a:srgbClr val="FBF8F0"/>
          </a:solidFill>
          <a:ln>
            <a:solidFill>
              <a:srgbClr val="C59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3026664"/>
            <a:ext cx="13350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81713"/>
                </a:solidFill>
                <a:latin typeface="Liberation Sans"/>
              </a:rPr>
              <a:t>Bản nháp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3017520"/>
            <a:ext cx="3017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C59B63"/>
                </a:solidFill>
                <a:latin typeface="Liberation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43200"/>
            <a:ext cx="1481328" cy="914400"/>
          </a:xfrm>
          <a:prstGeom prst="roundRect">
            <a:avLst/>
          </a:prstGeom>
          <a:solidFill>
            <a:srgbClr val="FBF8F0"/>
          </a:solidFill>
          <a:ln>
            <a:solidFill>
              <a:srgbClr val="C59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3026664"/>
            <a:ext cx="13350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81713"/>
                </a:solidFill>
                <a:latin typeface="Liberation Sans"/>
              </a:rPr>
              <a:t>Kiểm 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3017520"/>
            <a:ext cx="3017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C59B63"/>
                </a:solidFill>
                <a:latin typeface="Liberation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93808" y="2743200"/>
            <a:ext cx="1481328" cy="914400"/>
          </a:xfrm>
          <a:prstGeom prst="roundRect">
            <a:avLst/>
          </a:prstGeom>
          <a:solidFill>
            <a:srgbClr val="181713"/>
          </a:solidFill>
          <a:ln>
            <a:solidFill>
              <a:srgbClr val="C59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026664"/>
            <a:ext cx="13350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F4EEDF"/>
                </a:solidFill>
                <a:latin typeface="Liberation Sans"/>
              </a:rPr>
              <a:t>Người duyệt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3168"/>
            <a:ext cx="10424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6B645B"/>
                </a:solidFill>
                <a:latin typeface="Liberation Sans"/>
              </a:rPr>
              <a:t>Claude hỗ trợ xử lý. Con người giữ trách nhiệm.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MÔ HÌNH 6 THÀNH PHẦN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Đừng bắt đầu bằng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67712"/>
            <a:ext cx="3429000" cy="1143000"/>
          </a:xfrm>
          <a:prstGeom prst="roundRect">
            <a:avLst/>
          </a:prstGeom>
          <a:solidFill>
            <a:srgbClr val="151515"/>
          </a:solidFill>
          <a:ln>
            <a:solidFill>
              <a:srgbClr val="2B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4505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706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4EEDF"/>
                </a:solidFill>
                <a:latin typeface="Liberation Sans"/>
              </a:rPr>
              <a:t>Mục tiêu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67712"/>
            <a:ext cx="3429000" cy="1143000"/>
          </a:xfrm>
          <a:prstGeom prst="roundRect">
            <a:avLst/>
          </a:prstGeom>
          <a:solidFill>
            <a:srgbClr val="151515"/>
          </a:solidFill>
          <a:ln>
            <a:solidFill>
              <a:srgbClr val="2B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4505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7706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4EEDF"/>
                </a:solidFill>
                <a:latin typeface="Liberation Sans"/>
              </a:rPr>
              <a:t>Bối cảnh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267712"/>
            <a:ext cx="3429000" cy="1143000"/>
          </a:xfrm>
          <a:prstGeom prst="roundRect">
            <a:avLst/>
          </a:prstGeom>
          <a:solidFill>
            <a:srgbClr val="151515"/>
          </a:solidFill>
          <a:ln>
            <a:solidFill>
              <a:srgbClr val="2B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505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706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4EEDF"/>
                </a:solidFill>
                <a:latin typeface="Liberation Sans"/>
              </a:rPr>
              <a:t>Dữ liệu vào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03904"/>
            <a:ext cx="3429000" cy="1143000"/>
          </a:xfrm>
          <a:prstGeom prst="roundRect">
            <a:avLst/>
          </a:prstGeom>
          <a:solidFill>
            <a:srgbClr val="151515"/>
          </a:solidFill>
          <a:ln>
            <a:solidFill>
              <a:srgbClr val="2B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986784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306824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4EEDF"/>
                </a:solidFill>
                <a:latin typeface="Liberation Sans"/>
              </a:rPr>
              <a:t>Đầu 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803904"/>
            <a:ext cx="3429000" cy="1143000"/>
          </a:xfrm>
          <a:prstGeom prst="roundRect">
            <a:avLst/>
          </a:prstGeom>
          <a:solidFill>
            <a:srgbClr val="151515"/>
          </a:solidFill>
          <a:ln>
            <a:solidFill>
              <a:srgbClr val="2B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3986784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306824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4EEDF"/>
                </a:solidFill>
                <a:latin typeface="Liberation Sans"/>
              </a:rPr>
              <a:t>Tiêu chí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3803904"/>
            <a:ext cx="3429000" cy="1143000"/>
          </a:xfrm>
          <a:prstGeom prst="roundRect">
            <a:avLst/>
          </a:prstGeom>
          <a:solidFill>
            <a:srgbClr val="151515"/>
          </a:solidFill>
          <a:ln>
            <a:solidFill>
              <a:srgbClr val="2B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86784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06824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4EEDF"/>
                </a:solidFill>
                <a:latin typeface="Liberation Sans"/>
              </a:rPr>
              <a:t>Ranh giới + duyệt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CHỌN VIỆC ĐẦU TIÊN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Nhỏ, rõ, kiểm tra được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Lặp lại và có đầu vào rõ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Đầu ra dễ đối chiếu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Rủi ro thấp, có thể dừng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901184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791456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Tránh quyết định pháp lý, tài chính, nhân sự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DEMO · DỮ LIỆU GIẢ LẬP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Tiệm bánh Mộc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Bánh thủ công theo đơn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Giọng ấm áp, cụ thể, không khoa trương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Không nhận đơn gấp dưới 24 giờ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901184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791456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Giá luôn để [GIÁ] nếu nguồn chưa cung cấp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96128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69D8D"/>
                </a:solidFill>
                <a:latin typeface="Liberation Sans"/>
              </a:rPr>
              <a:t>Không phải case study kết quả thật.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DEMO · BƯỚC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Tạo không gian bối cảnh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Nguồn nào được ưu tiên?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Điều gì tuyệt đối không được đoán?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Khi thiếu dữ liệu, phải hỏi lại thế nào?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DEMO · BƯỚC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Giao một nhiệm vụ có thể chấm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73152" cy="233172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377439"/>
            <a:ext cx="978408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0">
                <a:solidFill>
                  <a:srgbClr val="F4EEDF"/>
                </a:solidFill>
                <a:latin typeface="Liberation Sans"/>
              </a:rPr>
              <a:t>“Soạn bản nháp trả lời khách hỏi bánh sinh nhật. Chỉ dùng dữ liệu đã cho; hỏi lại phần thiếu; không tự điền giá; kết thúc bằng một bước tiếp theo.”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DEMO · BƯỚC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Sửa theo tiêu chí, không sửa theo cảm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Đúng dữ liệu nguồn?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Đúng giọng thương hiệu?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Không bịa giá/chính sách?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901184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791456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Có bước tiếp theo phù hợp?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47—67 PHÚT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Bài thực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2412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F4EEDF"/>
                </a:solidFill>
                <a:latin typeface="Liberation Sans"/>
              </a:rPr>
              <a:t>Chọn 1 việc: FAQ · bản nháp giới thiệu sản phẩm · tóm tắt ghi chú đã ẩn danh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154680"/>
            <a:ext cx="73152" cy="233172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200400"/>
            <a:ext cx="978408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0">
                <a:solidFill>
                  <a:srgbClr val="F4EEDF"/>
                </a:solidFill>
                <a:latin typeface="Liberation Sans"/>
              </a:rPr>
              <a:t>“Mục tiêu không phải tạo câu trả lời hoàn hảo. Mục tiêu là biết vì sao đầu ra đạt hoặc cần sửa.”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WORKSHEET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Điền 6 ô trước khi mở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67712"/>
            <a:ext cx="3429000" cy="1143000"/>
          </a:xfrm>
          <a:prstGeom prst="roundRect">
            <a:avLst/>
          </a:prstGeom>
          <a:solidFill>
            <a:srgbClr val="FBF8F0"/>
          </a:solidFill>
          <a:ln>
            <a:solidFill>
              <a:srgbClr val="D7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4505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706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81713"/>
                </a:solidFill>
                <a:latin typeface="Liberation Sans"/>
              </a:rPr>
              <a:t>1. Mục tiêu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67712"/>
            <a:ext cx="3429000" cy="1143000"/>
          </a:xfrm>
          <a:prstGeom prst="roundRect">
            <a:avLst/>
          </a:prstGeom>
          <a:solidFill>
            <a:srgbClr val="FBF8F0"/>
          </a:solidFill>
          <a:ln>
            <a:solidFill>
              <a:srgbClr val="D7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4505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7706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81713"/>
                </a:solidFill>
                <a:latin typeface="Liberation Sans"/>
              </a:rPr>
              <a:t>2. Bối cảnh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267712"/>
            <a:ext cx="3429000" cy="1143000"/>
          </a:xfrm>
          <a:prstGeom prst="roundRect">
            <a:avLst/>
          </a:prstGeom>
          <a:solidFill>
            <a:srgbClr val="FBF8F0"/>
          </a:solidFill>
          <a:ln>
            <a:solidFill>
              <a:srgbClr val="D7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505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706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81713"/>
                </a:solidFill>
                <a:latin typeface="Liberation Sans"/>
              </a:rPr>
              <a:t>3. Dữ liệu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03904"/>
            <a:ext cx="3429000" cy="1143000"/>
          </a:xfrm>
          <a:prstGeom prst="roundRect">
            <a:avLst/>
          </a:prstGeom>
          <a:solidFill>
            <a:srgbClr val="FBF8F0"/>
          </a:solidFill>
          <a:ln>
            <a:solidFill>
              <a:srgbClr val="D7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986784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306824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81713"/>
                </a:solidFill>
                <a:latin typeface="Liberation Sans"/>
              </a:rPr>
              <a:t>4. Đầu 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803904"/>
            <a:ext cx="3429000" cy="1143000"/>
          </a:xfrm>
          <a:prstGeom prst="roundRect">
            <a:avLst/>
          </a:prstGeom>
          <a:solidFill>
            <a:srgbClr val="FBF8F0"/>
          </a:solidFill>
          <a:ln>
            <a:solidFill>
              <a:srgbClr val="D7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3986784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306824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81713"/>
                </a:solidFill>
                <a:latin typeface="Liberation Sans"/>
              </a:rPr>
              <a:t>5. Tiêu chí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3803904"/>
            <a:ext cx="3429000" cy="1143000"/>
          </a:xfrm>
          <a:prstGeom prst="roundRect">
            <a:avLst/>
          </a:prstGeom>
          <a:solidFill>
            <a:srgbClr val="FBF8F0"/>
          </a:solidFill>
          <a:ln>
            <a:solidFill>
              <a:srgbClr val="D7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86784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06824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81713"/>
                </a:solidFill>
                <a:latin typeface="Liberation Sans"/>
              </a:rPr>
              <a:t>6. Ranh giới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PROMPT KHUNG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Một cấu trúc có thể tái sử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73152" cy="233172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377439"/>
            <a:ext cx="978408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0">
                <a:solidFill>
                  <a:srgbClr val="F4EEDF"/>
                </a:solidFill>
                <a:latin typeface="Liberation Sans"/>
              </a:rPr>
              <a:t>“Vai trò hỗ trợ… Mục tiêu… Bối cảnh… Dữ liệu… Đầu ra… Tiêu chí… Nếu thiếu thông tin… Không được…”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96128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69D8D"/>
                </a:solidFill>
                <a:latin typeface="Liberation Sans"/>
              </a:rPr>
              <a:t>Thay nội dung trong từng phần; không dán credential hoặc dữ liệu khách hàng thật.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CHẠY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Đánh dấu nơi cần con người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Câu nào cần đối chiếu nguồn?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Phần nào cần quyết định kinh doanh?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Điều gì phải chuyển cấp?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901184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791456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Chưa gửi bản nháp ra bên ngoài.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67—77 PHÚT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Checklist đánh giá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F4EEDF"/>
                </a:solidFill>
                <a:latin typeface="Liberation Sans"/>
              </a:rPr>
              <a:t>Đúng thông tin nguồn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030321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920593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F4EEDF"/>
                </a:solidFill>
                <a:latin typeface="Liberation Sans"/>
              </a:rPr>
              <a:t>Không đoán dữ kiện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3710635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600907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F4EEDF"/>
                </a:solidFill>
                <a:latin typeface="Liberation Sans"/>
              </a:rPr>
              <a:t>Đúng giọng &amp; định dạng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39094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28122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F4EEDF"/>
                </a:solidFill>
                <a:latin typeface="Liberation Sans"/>
              </a:rPr>
              <a:t>Không vượt quyền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" y="507126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96153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F4EEDF"/>
                </a:solidFill>
                <a:latin typeface="Liberation Sans"/>
              </a:rPr>
              <a:t>Đã có người chịu trách nhiệm duyệt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96128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69D8D"/>
                </a:solidFill>
                <a:latin typeface="Liberation Sans"/>
              </a:rPr>
              <a:t>Kết luận: ĐẠT hoặc CẦN SỬA — kèm một lý do cụ thể.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RANH GIỚI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Khi nào phải dừng 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Dữ liệu nhạy cảm chưa ẩn danh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Hậu quả pháp lý / tài chính cao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Không có nguồn để kiểm chứng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901184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791456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Người nhận có thể hiểu nháp là quyết định chính thức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NẾU MUỐN ĐI TIẾP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AI VẬN HÀNH DOANH NGHIỆP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Tuần 1–2 · Giao việc + trợ lý hiểu doanh nghiệp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Tuần 3–4 · Nội dung + bán hàng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Tuần 5–6 · CSKH/vận hành + workflow có duyệt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96128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69D8D"/>
                </a:solidFill>
                <a:latin typeface="Liberation Sans"/>
              </a:rPr>
              <a:t>6 tuần · học theo dự án thật · không yêu cầu lập trình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COHORT SÁNG LẬP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81713"/>
                </a:solidFill>
                <a:latin typeface="Liberation Sans"/>
              </a:rPr>
              <a:t>Một lời mời minh bạch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6B645B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Tối đa 15 học viên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5 suất sáng lập · 3.900.000đ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10 suất chính thức · 4.900.000đ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4901184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791456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181713"/>
                </a:solidFill>
                <a:latin typeface="Liberation Sans"/>
              </a:rPr>
              <a:t>Chưa gồm phí Claude / công cụ bên thứ 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96128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6B645B"/>
                </a:solidFill>
                <a:latin typeface="Liberation Sans"/>
              </a:rPr>
              <a:t>Nộp hồ sơ để cùng đánh giá mức phù hợp — không phải bước thanh toán.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6B645B"/>
                </a:solidFill>
                <a:latin typeface="Liberatio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C59B63"/>
                </a:solidFill>
                <a:latin typeface="Liberation Sans"/>
              </a:rPr>
              <a:t>BƯỚC TIẾP THEO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F4EEDF"/>
                </a:solidFill>
                <a:latin typeface="Liberation Sans"/>
              </a:rPr>
              <a:t>Hoàn thiện một vòng nhỏ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18520" cy="22860"/>
          </a:xfrm>
          <a:prstGeom prst="rect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A69D8D"/>
                </a:solidFill>
                <a:latin typeface="Liberation Sans"/>
              </a:rPr>
              <a:t>khanh.design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0008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40280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01  Chạy lại với một ví dụ đã ẩn danh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3200400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090672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02  Ghi một lỗi cụ thể và sửa theo checklist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050792"/>
            <a:ext cx="146304" cy="146304"/>
          </a:xfrm>
          <a:prstGeom prst="ellipse">
            <a:avLst/>
          </a:prstGeom>
          <a:solidFill>
            <a:srgbClr val="C5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941064"/>
            <a:ext cx="98755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>
                <a:solidFill>
                  <a:srgbClr val="F4EEDF"/>
                </a:solidFill>
                <a:latin typeface="Liberation Sans"/>
              </a:rPr>
              <a:t>03  Nếu cần đồng hành 6 tuần, đọc đề cương và nộp hồ sơ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96128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69D8D"/>
                </a:solidFill>
                <a:latin typeface="Liberation Sans"/>
              </a:rPr>
              <a:t>Câu hỏi?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A69D8D"/>
                </a:solidFill>
                <a:latin typeface="Liberation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trợ lý AI đầu tiên cho doanh nghiệp với Claude</dc:title>
  <dc:subject>Workshop miễn phí — AI VẬN HÀNH DOANH NGHIỆP</dc:subject>
  <dc:creator>khanh.design</dc:creator>
  <cp:keywords>Claude, AI, doanh nghiệp, workshop, trợ lý AI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